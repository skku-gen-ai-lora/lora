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6858000" cx="12192000"/>
  <p:notesSz cx="6858000" cy="9144000"/>
  <p:embeddedFontLst>
    <p:embeddedFont>
      <p:font typeface="Merriweather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78DFED-3BB1-49A5-A480-8F8384FBD495}">
  <a:tblStyle styleId="{DC78DFED-3BB1-49A5-A480-8F8384FBD49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Merriweather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Merriweather-bold.fntdata"/><Relationship Id="rId18" Type="http://schemas.openxmlformats.org/officeDocument/2006/relationships/font" Target="fonts/Merriweath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ef42d49b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eef42d49b4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11" Type="http://schemas.openxmlformats.org/officeDocument/2006/relationships/image" Target="../media/image5.png"/><Relationship Id="rId10" Type="http://schemas.openxmlformats.org/officeDocument/2006/relationships/image" Target="../media/image28.png"/><Relationship Id="rId12" Type="http://schemas.openxmlformats.org/officeDocument/2006/relationships/image" Target="../media/image23.png"/><Relationship Id="rId9" Type="http://schemas.openxmlformats.org/officeDocument/2006/relationships/image" Target="../media/image27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7175" y="4117627"/>
            <a:ext cx="4057650" cy="10952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2755582" y="1645146"/>
            <a:ext cx="668083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LoRA from Scratch</a:t>
            </a:r>
            <a:endParaRPr/>
          </a:p>
        </p:txBody>
      </p:sp>
      <p:sp>
        <p:nvSpPr>
          <p:cNvPr id="161" name="Google Shape;161;p25"/>
          <p:cNvSpPr txBox="1"/>
          <p:nvPr/>
        </p:nvSpPr>
        <p:spPr>
          <a:xfrm>
            <a:off x="2466975" y="2658516"/>
            <a:ext cx="72580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소형 LLM의 의료 도메인 적응에서 Rank, Target Module, Scaling이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성능과 자원 효율에 미치는 영향 분석</a:t>
            </a:r>
            <a:endParaRPr/>
          </a:p>
        </p:txBody>
      </p:sp>
      <p:sp>
        <p:nvSpPr>
          <p:cNvPr id="162" name="Google Shape;162;p25"/>
          <p:cNvSpPr txBox="1"/>
          <p:nvPr/>
        </p:nvSpPr>
        <p:spPr>
          <a:xfrm>
            <a:off x="4067175" y="4412902"/>
            <a:ext cx="4057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 2025720448 김제니 · </a:t>
            </a: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2026720148 유인재</a:t>
            </a:r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4067175" y="4843313"/>
            <a:ext cx="4057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Final Project Report (2026-01)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194768"/>
            <a:ext cx="53816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3675" y="4809380"/>
            <a:ext cx="2084189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2010" y="3023443"/>
            <a:ext cx="2084189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2010" y="4928443"/>
            <a:ext cx="208418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78119" y="4280743"/>
            <a:ext cx="833586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16505" y="4280743"/>
            <a:ext cx="833586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 txBox="1"/>
          <p:nvPr/>
        </p:nvSpPr>
        <p:spPr>
          <a:xfrm>
            <a:off x="476250" y="2133004"/>
            <a:ext cx="565070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파인튜닝의 한계와 새로운 접근</a:t>
            </a:r>
            <a:endParaRPr/>
          </a:p>
        </p:txBody>
      </p:sp>
      <p:sp>
        <p:nvSpPr>
          <p:cNvPr id="175" name="Google Shape;175;p26"/>
          <p:cNvSpPr txBox="1"/>
          <p:nvPr/>
        </p:nvSpPr>
        <p:spPr>
          <a:xfrm>
            <a:off x="657225" y="260830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714375" y="2609254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범용 LLM을 의료 전문 도메인에 적용하기 위해서는 파인튜닝이 필수적입니다.</a:t>
            </a:r>
            <a:endParaRPr/>
          </a:p>
        </p:txBody>
      </p:sp>
      <p:sp>
        <p:nvSpPr>
          <p:cNvPr id="177" name="Google Shape;177;p26"/>
          <p:cNvSpPr txBox="1"/>
          <p:nvPr/>
        </p:nvSpPr>
        <p:spPr>
          <a:xfrm>
            <a:off x="657225" y="329975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714375" y="3300710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하지만 전체 가중치를 훈련하는 </a:t>
            </a:r>
            <a:r>
              <a:rPr b="1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Full Fine-Tuning</a:t>
            </a: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은 막대한 컴퓨팅 자원과 긴 학습 시간을 요구합니다.</a:t>
            </a:r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657225" y="399121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714375" y="3992165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기존 PEFT 기법은 추론 지연이나 컨텍스트 제약을 유발하는 단점이 존재합니다.</a:t>
            </a:r>
            <a:endParaRPr/>
          </a:p>
        </p:txBody>
      </p:sp>
      <p:sp>
        <p:nvSpPr>
          <p:cNvPr id="181" name="Google Shape;181;p26"/>
          <p:cNvSpPr txBox="1"/>
          <p:nvPr/>
        </p:nvSpPr>
        <p:spPr>
          <a:xfrm>
            <a:off x="657225" y="468266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714375" y="4683621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본 연구는 </a:t>
            </a:r>
            <a:r>
              <a:rPr b="1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추론 지연 없이 파라미터를 극적으로 감축</a:t>
            </a: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하는 LoRA 기법에 주목합니다.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657225" y="537412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714375" y="5375076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기성 라이브러리에 의존하지 않고 </a:t>
            </a:r>
            <a:r>
              <a:rPr b="1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수학적 메커니즘을 처음부터 직접 구현</a:t>
            </a: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하여 세부 변수의 영향을 정량 분석합니다.</a:t>
            </a:r>
            <a:endParaRPr/>
          </a:p>
        </p:txBody>
      </p:sp>
      <p:sp>
        <p:nvSpPr>
          <p:cNvPr id="185" name="Google Shape;185;p26"/>
          <p:cNvSpPr txBox="1"/>
          <p:nvPr/>
        </p:nvSpPr>
        <p:spPr>
          <a:xfrm>
            <a:off x="6857107" y="2373178"/>
            <a:ext cx="145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Full Fine-Tuning</a:t>
            </a:r>
            <a:endParaRPr/>
          </a:p>
        </p:txBody>
      </p:sp>
      <p:pic>
        <p:nvPicPr>
          <p:cNvPr descr="image.png" id="186" name="Google Shape;186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34437" y="389974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6"/>
          <p:cNvSpPr txBox="1"/>
          <p:nvPr/>
        </p:nvSpPr>
        <p:spPr>
          <a:xfrm>
            <a:off x="9797355" y="2623393"/>
            <a:ext cx="1333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LoRA 제안 모델</a:t>
            </a:r>
            <a:endParaRPr/>
          </a:p>
        </p:txBody>
      </p:sp>
      <p:pic>
        <p:nvPicPr>
          <p:cNvPr descr="image.png" id="188" name="Google Shape;188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71469" y="336158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64092" y="323409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406955" y="439980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/>
        </p:nvSpPr>
        <p:spPr>
          <a:xfrm>
            <a:off x="476250" y="808285"/>
            <a:ext cx="11715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연구 배경 및 목표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956643"/>
            <a:ext cx="54768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956643"/>
            <a:ext cx="54768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7"/>
          <p:cNvSpPr txBox="1"/>
          <p:nvPr/>
        </p:nvSpPr>
        <p:spPr>
          <a:xfrm>
            <a:off x="857250" y="3023443"/>
            <a:ext cx="49506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수학적 공식 및 원리</a:t>
            </a:r>
            <a:endParaRPr/>
          </a:p>
        </p:txBody>
      </p:sp>
      <p:sp>
        <p:nvSpPr>
          <p:cNvPr id="199" name="Google Shape;199;p27"/>
          <p:cNvSpPr txBox="1"/>
          <p:nvPr/>
        </p:nvSpPr>
        <p:spPr>
          <a:xfrm>
            <a:off x="857250" y="3499693"/>
            <a:ext cx="47148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사전 학습 가중치를 동결하고, 변화량만 저랭크(Low-Rank) 행렬의 곱으로 학습합니다.</a:t>
            </a:r>
            <a:endParaRPr/>
          </a:p>
        </p:txBody>
      </p:sp>
      <p:sp>
        <p:nvSpPr>
          <p:cNvPr id="200" name="Google Shape;200;p27"/>
          <p:cNvSpPr txBox="1"/>
          <p:nvPr/>
        </p:nvSpPr>
        <p:spPr>
          <a:xfrm>
            <a:off x="6619875" y="3023443"/>
            <a:ext cx="49506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From-Scratch 프레임워크</a:t>
            </a:r>
            <a:endParaRPr/>
          </a:p>
        </p:txBody>
      </p:sp>
      <p:sp>
        <p:nvSpPr>
          <p:cNvPr id="201" name="Google Shape;201;p27"/>
          <p:cNvSpPr txBox="1"/>
          <p:nvPr/>
        </p:nvSpPr>
        <p:spPr>
          <a:xfrm>
            <a:off x="6619875" y="3499693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외부 라이브러리(peft) 배제 및 직접 모듈 구현</a:t>
            </a:r>
            <a:endParaRPr/>
          </a:p>
        </p:txBody>
      </p:sp>
      <p:pic>
        <p:nvPicPr>
          <p:cNvPr descr="image.png" id="202" name="Google Shape;20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0375" y="2385268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6099" y="4393371"/>
            <a:ext cx="3597175" cy="26997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7"/>
          <p:cNvSpPr txBox="1"/>
          <p:nvPr/>
        </p:nvSpPr>
        <p:spPr>
          <a:xfrm>
            <a:off x="1181100" y="500275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1238250" y="5003704"/>
            <a:ext cx="43338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A는 정규분포, B=0으로 초기화하여 학습 시작 시 원본을 보장합니다.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1181100" y="564658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7" name="Google Shape;207;p27"/>
          <p:cNvSpPr txBox="1"/>
          <p:nvPr/>
        </p:nvSpPr>
        <p:spPr>
          <a:xfrm>
            <a:off x="1238250" y="5647535"/>
            <a:ext cx="433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추론 시 원본에 병합되어 지연 시간(Latency)이 없습니다.</a:t>
            </a:r>
            <a:endParaRPr/>
          </a:p>
        </p:txBody>
      </p:sp>
      <p:pic>
        <p:nvPicPr>
          <p:cNvPr descr="image.png" id="208" name="Google Shape;20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39187" y="2385268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6943725" y="401115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0" name="Google Shape;210;p27"/>
          <p:cNvSpPr txBox="1"/>
          <p:nvPr/>
        </p:nvSpPr>
        <p:spPr>
          <a:xfrm>
            <a:off x="7000875" y="4012108"/>
            <a:ext cx="4333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LoRALinear: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기존 nn.Linear를 감싸 순전파 연산 수행</a:t>
            </a:r>
            <a:endParaRPr/>
          </a:p>
        </p:txBody>
      </p:sp>
      <p:sp>
        <p:nvSpPr>
          <p:cNvPr id="211" name="Google Shape;211;p27"/>
          <p:cNvSpPr txBox="1"/>
          <p:nvPr/>
        </p:nvSpPr>
        <p:spPr>
          <a:xfrm>
            <a:off x="6943725" y="438069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2" name="Google Shape;212;p27"/>
          <p:cNvSpPr txBox="1"/>
          <p:nvPr/>
        </p:nvSpPr>
        <p:spPr>
          <a:xfrm>
            <a:off x="7000875" y="4381648"/>
            <a:ext cx="4333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Inject: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모델을 순회하며 대상 모듈 제자리 교체</a:t>
            </a:r>
            <a:endParaRPr/>
          </a:p>
        </p:txBody>
      </p:sp>
      <p:sp>
        <p:nvSpPr>
          <p:cNvPr id="213" name="Google Shape;213;p27"/>
          <p:cNvSpPr txBox="1"/>
          <p:nvPr/>
        </p:nvSpPr>
        <p:spPr>
          <a:xfrm>
            <a:off x="6943725" y="475023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4" name="Google Shape;214;p27"/>
          <p:cNvSpPr txBox="1"/>
          <p:nvPr/>
        </p:nvSpPr>
        <p:spPr>
          <a:xfrm>
            <a:off x="7000875" y="4751189"/>
            <a:ext cx="43338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독립 학습 루프: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메모리 관리를 위해 텍스트 토큰 손실 배제 (-100 마스킹)</a:t>
            </a:r>
            <a:endParaRPr/>
          </a:p>
        </p:txBody>
      </p:sp>
      <p:sp>
        <p:nvSpPr>
          <p:cNvPr id="215" name="Google Shape;215;p27"/>
          <p:cNvSpPr txBox="1"/>
          <p:nvPr/>
        </p:nvSpPr>
        <p:spPr>
          <a:xfrm>
            <a:off x="6943725" y="539406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6" name="Google Shape;216;p27"/>
          <p:cNvSpPr txBox="1"/>
          <p:nvPr/>
        </p:nvSpPr>
        <p:spPr>
          <a:xfrm>
            <a:off x="7000875" y="5395019"/>
            <a:ext cx="4333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수식 연산, 초기화, 병합 등 총 20개 단위 테스트 통과</a:t>
            </a:r>
            <a:endParaRPr/>
          </a:p>
        </p:txBody>
      </p:sp>
      <p:sp>
        <p:nvSpPr>
          <p:cNvPr id="217" name="Google Shape;217;p27"/>
          <p:cNvSpPr txBox="1"/>
          <p:nvPr/>
        </p:nvSpPr>
        <p:spPr>
          <a:xfrm>
            <a:off x="476250" y="808285"/>
            <a:ext cx="11715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LoRA 아키텍처 직접 구현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4280743"/>
            <a:ext cx="11239500" cy="131058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/>
          <p:nvPr/>
        </p:nvSpPr>
        <p:spPr>
          <a:xfrm>
            <a:off x="476250" y="1913185"/>
            <a:ext cx="11239500" cy="2177057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p28"/>
          <p:cNvGraphicFramePr/>
          <p:nvPr/>
        </p:nvGraphicFramePr>
        <p:xfrm>
          <a:off x="476250" y="1913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{DC78DFED-3BB1-49A5-A480-8F8384FBD495}</a:tableStyleId>
              </a:tblPr>
              <a:tblGrid>
                <a:gridCol w="1831475"/>
                <a:gridCol w="3663100"/>
                <a:gridCol w="2150725"/>
                <a:gridCol w="3594200"/>
              </a:tblGrid>
              <a:tr h="54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데이터셋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구성 내용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보기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평가 분할(크기)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4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MedMCQA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의료 입시 MCQ, train 182,822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4지선다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validation 4,183 (in-domain)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MedQA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USMLE 임상 문항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4지선다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 ~1.27k (전이)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4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PubMedQA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논문 초록 기반 QA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yes/no/maybe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 500 (전이)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28"/>
          <p:cNvSpPr/>
          <p:nvPr/>
        </p:nvSpPr>
        <p:spPr>
          <a:xfrm>
            <a:off x="476250" y="2422773"/>
            <a:ext cx="183147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2307728" y="2422773"/>
            <a:ext cx="3663106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5970835" y="2422773"/>
            <a:ext cx="215071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8121550" y="2422773"/>
            <a:ext cx="3594199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723900" y="4471243"/>
            <a:ext cx="1134141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통일 스키마 적용 및 정량 평가 방식</a:t>
            </a:r>
            <a:endParaRPr/>
          </a:p>
        </p:txBody>
      </p:sp>
      <p:sp>
        <p:nvSpPr>
          <p:cNvPr id="230" name="Google Shape;230;p28"/>
          <p:cNvSpPr txBox="1"/>
          <p:nvPr/>
        </p:nvSpPr>
        <p:spPr>
          <a:xfrm>
            <a:off x="723900" y="4852243"/>
            <a:ext cx="10801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평탄(Flat) 및 중첩(Nested) 구조가 혼재된 데이터셋을 </a:t>
            </a:r>
            <a:r>
              <a:rPr b="1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{prompt, choices, answer_idx}</a:t>
            </a: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단일 스키마로 정규화했습니다. 정답을 나타내는 알파벳 토큰에만 손실을 계산하며, 평가 시에는 각 보기 후보 토큰의 로그 우도(log-likelihood)를 계산해 가장 높은 값을 정답으로 채택합니다.</a:t>
            </a:r>
            <a:endParaRPr/>
          </a:p>
        </p:txBody>
      </p:sp>
      <p:sp>
        <p:nvSpPr>
          <p:cNvPr id="231" name="Google Shape;231;p28"/>
          <p:cNvSpPr/>
          <p:nvPr/>
        </p:nvSpPr>
        <p:spPr>
          <a:xfrm>
            <a:off x="476250" y="2977008"/>
            <a:ext cx="183147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2307728" y="2977008"/>
            <a:ext cx="3663106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5970835" y="2977008"/>
            <a:ext cx="215071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8121550" y="2977008"/>
            <a:ext cx="3594199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476250" y="3531244"/>
            <a:ext cx="183147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2307728" y="3531244"/>
            <a:ext cx="3663106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/>
          <p:nvPr/>
        </p:nvSpPr>
        <p:spPr>
          <a:xfrm>
            <a:off x="5970835" y="3531244"/>
            <a:ext cx="215071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8121550" y="3531244"/>
            <a:ext cx="3594199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476250" y="808285"/>
            <a:ext cx="11715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데이터셋 및 전처리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125587"/>
            <a:ext cx="11239500" cy="45309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125587"/>
            <a:ext cx="11239500" cy="565100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9"/>
          <p:cNvSpPr/>
          <p:nvPr/>
        </p:nvSpPr>
        <p:spPr>
          <a:xfrm>
            <a:off x="476250" y="1125587"/>
            <a:ext cx="5514975" cy="4530923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7" name="Google Shape;247;p29"/>
          <p:cNvGraphicFramePr/>
          <p:nvPr/>
        </p:nvGraphicFramePr>
        <p:xfrm>
          <a:off x="476250" y="11255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{DC78DFED-3BB1-49A5-A480-8F8384FBD495}</a:tableStyleId>
              </a:tblPr>
              <a:tblGrid>
                <a:gridCol w="752475"/>
                <a:gridCol w="1143000"/>
                <a:gridCol w="1285875"/>
                <a:gridCol w="1000125"/>
                <a:gridCol w="1333500"/>
              </a:tblGrid>
              <a:tr h="755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trainable 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MedMCQA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MedQA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PubMedQA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755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0.0137%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0.325 </a:t>
                      </a:r>
                      <a:r>
                        <a:rPr b="0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(-0.05)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0.125 </a:t>
                      </a:r>
                      <a:r>
                        <a:rPr b="0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(-0.13)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0.975 </a:t>
                      </a:r>
                      <a:r>
                        <a:rPr b="0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55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0.0547%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0.250 </a:t>
                      </a:r>
                      <a:r>
                        <a:rPr b="0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(-0.13)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0.250 </a:t>
                      </a:r>
                      <a:r>
                        <a:rPr b="0" i="0" lang="en-US" sz="1275" u="none" cap="none" strike="noStrike">
                          <a:solidFill>
                            <a:srgbClr val="64748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(0.00)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0.950 </a:t>
                      </a:r>
                      <a:r>
                        <a:rPr b="0" i="0" lang="en-US" sz="1275" u="none" cap="none" strike="noStrike">
                          <a:solidFill>
                            <a:srgbClr val="64748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(0.00)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0.1093%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0.300 </a:t>
                      </a:r>
                      <a:r>
                        <a:rPr b="0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(-0.08)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0.275 </a:t>
                      </a:r>
                      <a:r>
                        <a:rPr b="0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1.000 </a:t>
                      </a:r>
                      <a:r>
                        <a:rPr b="0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55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0.2184%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0.275 </a:t>
                      </a:r>
                      <a:r>
                        <a:rPr b="0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(-0.10)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0.300 </a:t>
                      </a:r>
                      <a:r>
                        <a:rPr b="0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0.975 </a:t>
                      </a:r>
                      <a:r>
                        <a:rPr b="0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8" name="Google Shape;248;p29"/>
          <p:cNvSpPr/>
          <p:nvPr/>
        </p:nvSpPr>
        <p:spPr>
          <a:xfrm>
            <a:off x="476250" y="1844724"/>
            <a:ext cx="7524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9"/>
          <p:cNvSpPr/>
          <p:nvPr/>
        </p:nvSpPr>
        <p:spPr>
          <a:xfrm>
            <a:off x="1228725" y="1844724"/>
            <a:ext cx="11430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2371725" y="1844724"/>
            <a:ext cx="12858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3657600" y="1844724"/>
            <a:ext cx="100012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4657725" y="1844724"/>
            <a:ext cx="13335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476250" y="2398960"/>
            <a:ext cx="7524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9"/>
          <p:cNvSpPr/>
          <p:nvPr/>
        </p:nvSpPr>
        <p:spPr>
          <a:xfrm>
            <a:off x="1228725" y="2398960"/>
            <a:ext cx="11430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2371725" y="2398960"/>
            <a:ext cx="12858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3657600" y="2398960"/>
            <a:ext cx="100012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4657725" y="2398960"/>
            <a:ext cx="13335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476250" y="3212157"/>
            <a:ext cx="7524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1228725" y="3212157"/>
            <a:ext cx="11430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2371725" y="3212157"/>
            <a:ext cx="12858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3657600" y="3212157"/>
            <a:ext cx="100012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4657725" y="3212157"/>
            <a:ext cx="13335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476250" y="4025354"/>
            <a:ext cx="7524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1228725" y="4025354"/>
            <a:ext cx="11430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2371725" y="4025354"/>
            <a:ext cx="12858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3657600" y="4025354"/>
            <a:ext cx="100012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4657725" y="4025354"/>
            <a:ext cx="13335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476250" y="4838551"/>
            <a:ext cx="7524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1228725" y="4838551"/>
            <a:ext cx="11430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9"/>
          <p:cNvSpPr/>
          <p:nvPr/>
        </p:nvSpPr>
        <p:spPr>
          <a:xfrm>
            <a:off x="2371725" y="4838551"/>
            <a:ext cx="12858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9"/>
          <p:cNvSpPr/>
          <p:nvPr/>
        </p:nvSpPr>
        <p:spPr>
          <a:xfrm>
            <a:off x="3657600" y="4838551"/>
            <a:ext cx="100012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9"/>
          <p:cNvSpPr/>
          <p:nvPr/>
        </p:nvSpPr>
        <p:spPr>
          <a:xfrm>
            <a:off x="4657725" y="4838551"/>
            <a:ext cx="13335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476250" y="302716"/>
            <a:ext cx="11715750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[RQ1] rank r이 (성능, 학습 파라미터) trade-off에 미치는 영향과 포화 지점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4774550"/>
            <a:ext cx="11239500" cy="120387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0"/>
          <p:cNvSpPr/>
          <p:nvPr/>
        </p:nvSpPr>
        <p:spPr>
          <a:xfrm>
            <a:off x="476250" y="1735716"/>
            <a:ext cx="11239500" cy="2721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0" name="Google Shape;280;p30"/>
          <p:cNvGraphicFramePr/>
          <p:nvPr/>
        </p:nvGraphicFramePr>
        <p:xfrm>
          <a:off x="476250" y="1720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{DC78DFED-3BB1-49A5-A480-8F8384FBD495}</a:tableStyleId>
              </a:tblPr>
              <a:tblGrid>
                <a:gridCol w="2469050"/>
                <a:gridCol w="2017525"/>
                <a:gridCol w="2346275"/>
                <a:gridCol w="1989375"/>
                <a:gridCol w="2417275"/>
              </a:tblGrid>
              <a:tr h="54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modules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trainable 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MedMCQA (Δ)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MedQA (Δ)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PubMedQA (Δ)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4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base (zero-shot)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{q, v}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0.1093%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0.300 </a:t>
                      </a:r>
                      <a:r>
                        <a:rPr b="1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(-0.08)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0.275 </a:t>
                      </a:r>
                      <a:r>
                        <a:rPr b="1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1.000 </a:t>
                      </a:r>
                      <a:r>
                        <a:rPr b="1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</a:tr>
              <a:tr h="54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{q, k, v, o}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0.2184%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0.200 </a:t>
                      </a:r>
                      <a:r>
                        <a:rPr b="0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(-0.18)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0.225 </a:t>
                      </a:r>
                      <a:r>
                        <a:rPr b="0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(-0.03)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0.825 </a:t>
                      </a:r>
                      <a:r>
                        <a:rPr b="0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(-0.13)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{q, k, v, o} + MLP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0.8826%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0.450 </a:t>
                      </a:r>
                      <a:r>
                        <a:rPr b="0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0.200 </a:t>
                      </a:r>
                      <a:r>
                        <a:rPr b="0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(-0.05)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0.775 </a:t>
                      </a:r>
                      <a:r>
                        <a:rPr b="0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(-0.18)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81" name="Google Shape;281;p30"/>
          <p:cNvSpPr/>
          <p:nvPr/>
        </p:nvSpPr>
        <p:spPr>
          <a:xfrm>
            <a:off x="476250" y="2235779"/>
            <a:ext cx="24690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0"/>
          <p:cNvSpPr/>
          <p:nvPr/>
        </p:nvSpPr>
        <p:spPr>
          <a:xfrm>
            <a:off x="2945308" y="2235779"/>
            <a:ext cx="20175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4962822" y="2235779"/>
            <a:ext cx="23463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7309098" y="2235779"/>
            <a:ext cx="19893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9298483" y="2235779"/>
            <a:ext cx="24174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723900" y="4965050"/>
            <a:ext cx="10801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결과 분석:</a:t>
            </a: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+MLP 조합이 In-domain(MedMCQA)에서는 최고점(0.450)을 기록하지만, 학습 범위가 커져 전이 데이터(MedQA/PubMedQA)에서는 오히려 정확도가 떨어지는 </a:t>
            </a: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과적합 경향</a:t>
            </a: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을 보였습니다. </a:t>
            </a: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Attention-only ({q,v}) 조합이 파라미터당 효율과 전이 안정성 측면에서 가장 이상적인 파레토 균형점입니다.</a:t>
            </a: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476250" y="2790015"/>
            <a:ext cx="24690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0"/>
          <p:cNvSpPr/>
          <p:nvPr/>
        </p:nvSpPr>
        <p:spPr>
          <a:xfrm>
            <a:off x="2945308" y="2790015"/>
            <a:ext cx="20175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4962822" y="2790015"/>
            <a:ext cx="23463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0"/>
          <p:cNvSpPr/>
          <p:nvPr/>
        </p:nvSpPr>
        <p:spPr>
          <a:xfrm>
            <a:off x="7309098" y="2790015"/>
            <a:ext cx="19893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9298483" y="2790015"/>
            <a:ext cx="24174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476250" y="3344251"/>
            <a:ext cx="24690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0"/>
          <p:cNvSpPr/>
          <p:nvPr/>
        </p:nvSpPr>
        <p:spPr>
          <a:xfrm>
            <a:off x="2945308" y="3344251"/>
            <a:ext cx="20175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0"/>
          <p:cNvSpPr/>
          <p:nvPr/>
        </p:nvSpPr>
        <p:spPr>
          <a:xfrm>
            <a:off x="4962822" y="3344251"/>
            <a:ext cx="23463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/>
          <p:nvPr/>
        </p:nvSpPr>
        <p:spPr>
          <a:xfrm>
            <a:off x="7309098" y="3344251"/>
            <a:ext cx="19893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9298483" y="3344251"/>
            <a:ext cx="24174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476250" y="3898487"/>
            <a:ext cx="24690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2945308" y="3898487"/>
            <a:ext cx="20175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4962822" y="3898487"/>
            <a:ext cx="23463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7309098" y="3898487"/>
            <a:ext cx="19893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0"/>
          <p:cNvSpPr/>
          <p:nvPr/>
        </p:nvSpPr>
        <p:spPr>
          <a:xfrm>
            <a:off x="9298483" y="3898487"/>
            <a:ext cx="24174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0"/>
          <p:cNvSpPr txBox="1"/>
          <p:nvPr/>
        </p:nvSpPr>
        <p:spPr>
          <a:xfrm>
            <a:off x="476250" y="697557"/>
            <a:ext cx="11715750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[RQ2] Target Module 위치에 따른 파라미터당 효율과 전이 안정성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4880455"/>
            <a:ext cx="11239500" cy="9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/>
          <p:nvPr/>
        </p:nvSpPr>
        <p:spPr>
          <a:xfrm>
            <a:off x="476250" y="1872936"/>
            <a:ext cx="11239500" cy="2721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9" name="Google Shape;309;p31"/>
          <p:cNvGraphicFramePr/>
          <p:nvPr/>
        </p:nvGraphicFramePr>
        <p:xfrm>
          <a:off x="476250" y="18729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{DC78DFED-3BB1-49A5-A480-8F8384FBD495}</a:tableStyleId>
              </a:tblPr>
              <a:tblGrid>
                <a:gridCol w="2554775"/>
                <a:gridCol w="2427675"/>
                <a:gridCol w="1989675"/>
                <a:gridCol w="2500600"/>
                <a:gridCol w="1766750"/>
              </a:tblGrid>
              <a:tr h="54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α/r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MedMCQA (Δ)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MedQA (Δ)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PubMedQA (Δ)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final loss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4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base (zero-shot)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0.375 </a:t>
                      </a:r>
                      <a:r>
                        <a:rPr b="0" i="0" lang="en-US" sz="1275" u="none" cap="none" strike="noStrike">
                          <a:solidFill>
                            <a:srgbClr val="64748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(0.00)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0.325 </a:t>
                      </a:r>
                      <a:r>
                        <a:rPr b="0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0.950 </a:t>
                      </a:r>
                      <a:r>
                        <a:rPr b="0" i="0" lang="en-US" sz="1275" u="none" cap="none" strike="noStrike">
                          <a:solidFill>
                            <a:srgbClr val="64748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(0.00)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1.314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4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0.250 </a:t>
                      </a:r>
                      <a:r>
                        <a:rPr b="0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(-0.13)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0.275 </a:t>
                      </a:r>
                      <a:r>
                        <a:rPr b="0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0.975 </a:t>
                      </a:r>
                      <a:r>
                        <a:rPr b="0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1.285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0.300 </a:t>
                      </a:r>
                      <a:r>
                        <a:rPr b="0" i="0" lang="en-US" sz="1275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(-0.08)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0.275 </a:t>
                      </a:r>
                      <a:r>
                        <a:rPr b="0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1.000 </a:t>
                      </a:r>
                      <a:r>
                        <a:rPr b="0" i="0" lang="en-US" sz="1275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(+0.05)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1.288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0" name="Google Shape;310;p31"/>
          <p:cNvSpPr/>
          <p:nvPr/>
        </p:nvSpPr>
        <p:spPr>
          <a:xfrm>
            <a:off x="476250" y="2372998"/>
            <a:ext cx="25548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3031033" y="2372998"/>
            <a:ext cx="24276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5458717" y="2372998"/>
            <a:ext cx="19896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7448401" y="2372998"/>
            <a:ext cx="25005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9949011" y="2372998"/>
            <a:ext cx="17667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723900" y="5070955"/>
            <a:ext cx="10801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결과 분석:</a:t>
            </a: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α/r 값은 가중치 변화량의 유효 학습률처럼 작용합니다. 최종 손실(final loss)은 α/r이 1.0이나 2.0일 때 가장 낮았으며, 값이 0.5로 작을 경우 적응이 약해 손실 감소폭이 상대적으로 적었습니다.</a:t>
            </a:r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476250" y="2927234"/>
            <a:ext cx="25548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3031033" y="2927234"/>
            <a:ext cx="24276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5458717" y="2927234"/>
            <a:ext cx="19896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7448401" y="2927234"/>
            <a:ext cx="25005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9949011" y="2927234"/>
            <a:ext cx="17667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476250" y="3481470"/>
            <a:ext cx="25548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3031033" y="3481470"/>
            <a:ext cx="24276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5458717" y="3481470"/>
            <a:ext cx="19896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7448401" y="3481470"/>
            <a:ext cx="25005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9949011" y="3481470"/>
            <a:ext cx="17667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476250" y="4035706"/>
            <a:ext cx="25548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3031033" y="4035706"/>
            <a:ext cx="24276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5458717" y="4035706"/>
            <a:ext cx="19896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7448401" y="4035706"/>
            <a:ext cx="25005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9949011" y="4035706"/>
            <a:ext cx="1766700" cy="96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476250" y="697557"/>
            <a:ext cx="11715750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[RQ3] scaling α/r 가 학습 안정성·성능에 미치는 영향 — r=8 고정, α/r ∈ {0.5,1,2}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6" name="Google Shape;33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700884"/>
            <a:ext cx="11239500" cy="624988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2"/>
          <p:cNvSpPr/>
          <p:nvPr/>
        </p:nvSpPr>
        <p:spPr>
          <a:xfrm>
            <a:off x="476250" y="3733226"/>
            <a:ext cx="11239500" cy="21771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8" name="Google Shape;338;p32"/>
          <p:cNvGraphicFramePr/>
          <p:nvPr/>
        </p:nvGraphicFramePr>
        <p:xfrm>
          <a:off x="476250" y="37332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{DC78DFED-3BB1-49A5-A480-8F8384FBD495}</a:tableStyleId>
              </a:tblPr>
              <a:tblGrid>
                <a:gridCol w="1430250"/>
                <a:gridCol w="1704375"/>
                <a:gridCol w="2026150"/>
                <a:gridCol w="1918850"/>
                <a:gridCol w="2336000"/>
                <a:gridCol w="1823900"/>
              </a:tblGrid>
              <a:tr h="54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trainable 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MedMCQA (in)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MedQA (전이)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PubMedQA (전이)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train time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4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Zero-shot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0.109%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0.275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28.2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</a:tr>
              <a:tr h="54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Full FT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0.175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0.175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55.9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339" name="Google Shape;33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6022497"/>
            <a:ext cx="11239500" cy="73908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2"/>
          <p:cNvSpPr/>
          <p:nvPr/>
        </p:nvSpPr>
        <p:spPr>
          <a:xfrm>
            <a:off x="476250" y="4383732"/>
            <a:ext cx="143023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2"/>
          <p:cNvSpPr/>
          <p:nvPr/>
        </p:nvSpPr>
        <p:spPr>
          <a:xfrm>
            <a:off x="1906488" y="4383732"/>
            <a:ext cx="1704379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2"/>
          <p:cNvSpPr/>
          <p:nvPr/>
        </p:nvSpPr>
        <p:spPr>
          <a:xfrm>
            <a:off x="3610867" y="4383732"/>
            <a:ext cx="2026146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2"/>
          <p:cNvSpPr/>
          <p:nvPr/>
        </p:nvSpPr>
        <p:spPr>
          <a:xfrm>
            <a:off x="5637014" y="4383732"/>
            <a:ext cx="191884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2"/>
          <p:cNvSpPr/>
          <p:nvPr/>
        </p:nvSpPr>
        <p:spPr>
          <a:xfrm>
            <a:off x="7555855" y="4383732"/>
            <a:ext cx="2336006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2"/>
          <p:cNvSpPr/>
          <p:nvPr/>
        </p:nvSpPr>
        <p:spPr>
          <a:xfrm>
            <a:off x="9891861" y="4383732"/>
            <a:ext cx="182388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2"/>
          <p:cNvSpPr/>
          <p:nvPr/>
        </p:nvSpPr>
        <p:spPr>
          <a:xfrm>
            <a:off x="476250" y="4937968"/>
            <a:ext cx="143023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2"/>
          <p:cNvSpPr/>
          <p:nvPr/>
        </p:nvSpPr>
        <p:spPr>
          <a:xfrm>
            <a:off x="1906488" y="4937968"/>
            <a:ext cx="1704379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3610867" y="4937968"/>
            <a:ext cx="2026146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2"/>
          <p:cNvSpPr/>
          <p:nvPr/>
        </p:nvSpPr>
        <p:spPr>
          <a:xfrm>
            <a:off x="5637014" y="4937968"/>
            <a:ext cx="191884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2"/>
          <p:cNvSpPr/>
          <p:nvPr/>
        </p:nvSpPr>
        <p:spPr>
          <a:xfrm>
            <a:off x="7555855" y="4937968"/>
            <a:ext cx="2336006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2"/>
          <p:cNvSpPr/>
          <p:nvPr/>
        </p:nvSpPr>
        <p:spPr>
          <a:xfrm>
            <a:off x="9891861" y="4937968"/>
            <a:ext cx="182388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476250" y="5492204"/>
            <a:ext cx="143023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1906488" y="5492204"/>
            <a:ext cx="1704379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3610867" y="5492204"/>
            <a:ext cx="2026146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5637014" y="5492204"/>
            <a:ext cx="191884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7555855" y="5492204"/>
            <a:ext cx="2336006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9891861" y="5492204"/>
            <a:ext cx="182388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 txBox="1"/>
          <p:nvPr/>
        </p:nvSpPr>
        <p:spPr>
          <a:xfrm>
            <a:off x="476250" y="3274"/>
            <a:ext cx="11715750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[RQ4] LoRA vs Full FT vs Zero-shot —(r=8, {q,v})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3" name="Google Shape;3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817935"/>
            <a:ext cx="5429250" cy="4563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17935"/>
            <a:ext cx="5429250" cy="4563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263800"/>
            <a:ext cx="464820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502050"/>
            <a:ext cx="46482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3"/>
          <p:cNvSpPr txBox="1"/>
          <p:nvPr/>
        </p:nvSpPr>
        <p:spPr>
          <a:xfrm>
            <a:off x="866775" y="2208460"/>
            <a:ext cx="48806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Zero-shot vs LoRA 정성 비교</a:t>
            </a:r>
            <a:endParaRPr/>
          </a:p>
        </p:txBody>
      </p:sp>
      <p:sp>
        <p:nvSpPr>
          <p:cNvPr id="368" name="Google Shape;368;p33"/>
          <p:cNvSpPr/>
          <p:nvPr/>
        </p:nvSpPr>
        <p:spPr>
          <a:xfrm>
            <a:off x="866775" y="2637085"/>
            <a:ext cx="46482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 txBox="1"/>
          <p:nvPr/>
        </p:nvSpPr>
        <p:spPr>
          <a:xfrm>
            <a:off x="866775" y="2846635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동일 임상 문항 (하벽 심근경색 ECG)</a:t>
            </a:r>
            <a:endParaRPr/>
          </a:p>
        </p:txBody>
      </p:sp>
      <p:sp>
        <p:nvSpPr>
          <p:cNvPr id="370" name="Google Shape;370;p33"/>
          <p:cNvSpPr txBox="1"/>
          <p:nvPr/>
        </p:nvSpPr>
        <p:spPr>
          <a:xfrm>
            <a:off x="6677025" y="2208460"/>
            <a:ext cx="48806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학습량 vs 모델 용량 실험</a:t>
            </a:r>
            <a:endParaRPr/>
          </a:p>
        </p:txBody>
      </p:sp>
      <p:sp>
        <p:nvSpPr>
          <p:cNvPr id="371" name="Google Shape;371;p33"/>
          <p:cNvSpPr/>
          <p:nvPr/>
        </p:nvSpPr>
        <p:spPr>
          <a:xfrm>
            <a:off x="6677025" y="2637085"/>
            <a:ext cx="46482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 txBox="1"/>
          <p:nvPr/>
        </p:nvSpPr>
        <p:spPr>
          <a:xfrm>
            <a:off x="1009650" y="3406675"/>
            <a:ext cx="11525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Zero-shot 응답:</a:t>
            </a:r>
            <a:endParaRPr/>
          </a:p>
        </p:txBody>
      </p:sp>
      <p:sp>
        <p:nvSpPr>
          <p:cNvPr id="373" name="Google Shape;373;p33"/>
          <p:cNvSpPr txBox="1"/>
          <p:nvPr/>
        </p:nvSpPr>
        <p:spPr>
          <a:xfrm>
            <a:off x="1009650" y="3663850"/>
            <a:ext cx="436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불필요한 시스템 경고문(Warning) 출력 및 원론적 텍스트 생성으로 불안정한 추론 양상 노출</a:t>
            </a:r>
            <a:endParaRPr/>
          </a:p>
        </p:txBody>
      </p:sp>
      <p:sp>
        <p:nvSpPr>
          <p:cNvPr id="374" name="Google Shape;374;p33"/>
          <p:cNvSpPr txBox="1"/>
          <p:nvPr/>
        </p:nvSpPr>
        <p:spPr>
          <a:xfrm>
            <a:off x="1047750" y="4644925"/>
            <a:ext cx="95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LoRA 적용 후:</a:t>
            </a:r>
            <a:endParaRPr/>
          </a:p>
        </p:txBody>
      </p:sp>
      <p:sp>
        <p:nvSpPr>
          <p:cNvPr id="375" name="Google Shape;375;p33"/>
          <p:cNvSpPr txBox="1"/>
          <p:nvPr/>
        </p:nvSpPr>
        <p:spPr>
          <a:xfrm>
            <a:off x="1047750" y="4902100"/>
            <a:ext cx="4324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의료 지식이 직접 반영되어 환자 증상과 일치하는 해부학적 동맥 구조를 정확히 해설하고 답변함</a:t>
            </a:r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6858000" y="284568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6915150" y="2846635"/>
            <a:ext cx="44100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0.1%는 너무 작지 않은가?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r=8,{q,v} 구조에서 학습 스텝을 1000으로 늘린 결과 MedMCQA 점수가 0.36 → 0.43으로 뚜렷이 상승. </a:t>
            </a:r>
            <a:r>
              <a:rPr b="0" i="1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문제는 크기가 아니라 학습량이었습니다.</a:t>
            </a:r>
            <a:endParaRPr/>
          </a:p>
        </p:txBody>
      </p:sp>
      <p:sp>
        <p:nvSpPr>
          <p:cNvPr id="378" name="Google Shape;378;p33"/>
          <p:cNvSpPr txBox="1"/>
          <p:nvPr/>
        </p:nvSpPr>
        <p:spPr>
          <a:xfrm>
            <a:off x="6858000" y="403809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79" name="Google Shape;379;p33"/>
          <p:cNvSpPr txBox="1"/>
          <p:nvPr/>
        </p:nvSpPr>
        <p:spPr>
          <a:xfrm>
            <a:off x="6915150" y="4039046"/>
            <a:ext cx="44100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용량(3.44%)을 무작정 키운다면?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모든 모듈 튜닝 시 In-domain은 정체되고 PubMedQA(전이)는 0.95→0.56으로 급락했습니다. (망각 현상)</a:t>
            </a:r>
            <a:endParaRPr/>
          </a:p>
        </p:txBody>
      </p:sp>
      <p:sp>
        <p:nvSpPr>
          <p:cNvPr id="380" name="Google Shape;380;p33"/>
          <p:cNvSpPr txBox="1"/>
          <p:nvPr/>
        </p:nvSpPr>
        <p:spPr>
          <a:xfrm>
            <a:off x="6858000" y="5114476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81" name="Google Shape;381;p33"/>
          <p:cNvSpPr txBox="1"/>
          <p:nvPr/>
        </p:nvSpPr>
        <p:spPr>
          <a:xfrm>
            <a:off x="6915150" y="5115429"/>
            <a:ext cx="44100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정규화 기법의 시너지: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Dropout과 Weight Decay 추가 시 전이 손상이 절반으로 완화되며 최적의 적응을 보였습니다.</a:t>
            </a:r>
            <a:endParaRPr/>
          </a:p>
        </p:txBody>
      </p:sp>
      <p:sp>
        <p:nvSpPr>
          <p:cNvPr id="382" name="Google Shape;382;p33"/>
          <p:cNvSpPr txBox="1"/>
          <p:nvPr/>
        </p:nvSpPr>
        <p:spPr>
          <a:xfrm>
            <a:off x="476250" y="808285"/>
            <a:ext cx="11715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성능 향상 검증 및 정성 평가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34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388" name="Google Shape;388;p34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4"/>
            <p:cNvSpPr txBox="1"/>
            <p:nvPr/>
          </p:nvSpPr>
          <p:spPr>
            <a:xfrm>
              <a:off x="571500" y="381000"/>
              <a:ext cx="11049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결론 요약</a:t>
              </a:r>
              <a:endParaRPr b="1" sz="36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571500" y="1000125"/>
              <a:ext cx="11049000" cy="28500"/>
            </a:xfrm>
            <a:prstGeom prst="rect">
              <a:avLst/>
            </a:prstGeom>
            <a:solidFill>
              <a:srgbClr val="11CA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" name="Google Shape;391;p34"/>
          <p:cNvGrpSpPr/>
          <p:nvPr/>
        </p:nvGrpSpPr>
        <p:grpSpPr>
          <a:xfrm>
            <a:off x="571500" y="1381125"/>
            <a:ext cx="5381700" cy="2286000"/>
            <a:chOff x="571500" y="1381125"/>
            <a:chExt cx="5381700" cy="2286000"/>
          </a:xfrm>
        </p:grpSpPr>
        <p:sp>
          <p:nvSpPr>
            <p:cNvPr id="392" name="Google Shape;392;p34"/>
            <p:cNvSpPr/>
            <p:nvPr/>
          </p:nvSpPr>
          <p:spPr>
            <a:xfrm>
              <a:off x="571500" y="1381125"/>
              <a:ext cx="5381700" cy="2286000"/>
            </a:xfrm>
            <a:prstGeom prst="roundRect">
              <a:avLst>
                <a:gd fmla="val 0" name="adj"/>
              </a:avLst>
            </a:prstGeom>
            <a:solidFill>
              <a:srgbClr val="FFFFFF"/>
            </a:soli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4"/>
            <p:cNvSpPr txBox="1"/>
            <p:nvPr/>
          </p:nvSpPr>
          <p:spPr>
            <a:xfrm>
              <a:off x="762000" y="1653410"/>
              <a:ext cx="4287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050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b="0" sz="2800">
                <a:solidFill>
                  <a:srgbClr val="0050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94" name="Google Shape;394;p34"/>
            <p:cNvSpPr txBox="1"/>
            <p:nvPr/>
          </p:nvSpPr>
          <p:spPr>
            <a:xfrm>
              <a:off x="1285875" y="1571625"/>
              <a:ext cx="4476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재앙적 망각 극복</a:t>
              </a:r>
              <a:endParaRPr b="1" sz="16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전체 파라미터를 갱신하는 Full FT가 사전 지식을 심각하게 훼손한 것에 비해, LoRA 기법은 단 0.1% 학습으로 사전학습 일반 지식을 보존하며 타겟 도메인에 연착륙했습니다.</a:t>
              </a:r>
              <a:endParaRPr b="0" sz="120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95" name="Google Shape;395;p34"/>
          <p:cNvGrpSpPr/>
          <p:nvPr/>
        </p:nvGrpSpPr>
        <p:grpSpPr>
          <a:xfrm>
            <a:off x="6238875" y="1381125"/>
            <a:ext cx="5381700" cy="2286000"/>
            <a:chOff x="6238875" y="1381125"/>
            <a:chExt cx="5381700" cy="2286000"/>
          </a:xfrm>
        </p:grpSpPr>
        <p:sp>
          <p:nvSpPr>
            <p:cNvPr id="396" name="Google Shape;396;p34"/>
            <p:cNvSpPr/>
            <p:nvPr/>
          </p:nvSpPr>
          <p:spPr>
            <a:xfrm>
              <a:off x="6238875" y="1381125"/>
              <a:ext cx="5381700" cy="2286000"/>
            </a:xfrm>
            <a:prstGeom prst="roundRect">
              <a:avLst>
                <a:gd fmla="val 0" name="adj"/>
              </a:avLst>
            </a:prstGeom>
            <a:solidFill>
              <a:srgbClr val="FFFFFF"/>
            </a:soli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4"/>
            <p:cNvSpPr txBox="1"/>
            <p:nvPr/>
          </p:nvSpPr>
          <p:spPr>
            <a:xfrm>
              <a:off x="6429375" y="1653410"/>
              <a:ext cx="4287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050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adjust</a:t>
              </a:r>
              <a:endParaRPr b="0" sz="2800">
                <a:solidFill>
                  <a:srgbClr val="0050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98" name="Google Shape;398;p34"/>
            <p:cNvSpPr txBox="1"/>
            <p:nvPr/>
          </p:nvSpPr>
          <p:spPr>
            <a:xfrm>
              <a:off x="6953250" y="1571625"/>
              <a:ext cx="4476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튜닝 최적점 증명</a:t>
              </a:r>
              <a:endParaRPr b="1" sz="16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Attention의 {q, v} 모듈 튜닝만으로도 파라미터 학습 효율과 새로운 전이 학습 데이터(Transfer)의 안정성을 함께 유지하는 최고 균형점을 달성했습니다.</a:t>
              </a:r>
              <a:endParaRPr b="0" sz="120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99" name="Google Shape;399;p34"/>
          <p:cNvGrpSpPr/>
          <p:nvPr/>
        </p:nvGrpSpPr>
        <p:grpSpPr>
          <a:xfrm>
            <a:off x="571500" y="3952875"/>
            <a:ext cx="5381700" cy="2286000"/>
            <a:chOff x="571500" y="3952875"/>
            <a:chExt cx="5381700" cy="2286000"/>
          </a:xfrm>
        </p:grpSpPr>
        <p:sp>
          <p:nvSpPr>
            <p:cNvPr id="400" name="Google Shape;400;p34"/>
            <p:cNvSpPr/>
            <p:nvPr/>
          </p:nvSpPr>
          <p:spPr>
            <a:xfrm>
              <a:off x="571500" y="3952875"/>
              <a:ext cx="5381700" cy="2286000"/>
            </a:xfrm>
            <a:prstGeom prst="roundRect">
              <a:avLst>
                <a:gd fmla="val 0" name="adj"/>
              </a:avLst>
            </a:prstGeom>
            <a:solidFill>
              <a:srgbClr val="FFFFFF"/>
            </a:soli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4"/>
            <p:cNvSpPr txBox="1"/>
            <p:nvPr/>
          </p:nvSpPr>
          <p:spPr>
            <a:xfrm>
              <a:off x="762000" y="4225160"/>
              <a:ext cx="4287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050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b="0" sz="2800">
                <a:solidFill>
                  <a:srgbClr val="0050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02" name="Google Shape;402;p34"/>
            <p:cNvSpPr txBox="1"/>
            <p:nvPr/>
          </p:nvSpPr>
          <p:spPr>
            <a:xfrm>
              <a:off x="1285875" y="4143375"/>
              <a:ext cx="4476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최적화 방법론 제시</a:t>
              </a:r>
              <a:endParaRPr b="1" sz="16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파라미터 크기(Rank)의 무조건적 확장보다는, 충분한 학습 데이터의 주입과 Dropout 같은 정규화 기법의 결합이 소형 모델 성능 고도화의 핵심입니다.</a:t>
              </a:r>
              <a:endParaRPr b="0" sz="120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03" name="Google Shape;403;p34"/>
          <p:cNvGrpSpPr/>
          <p:nvPr/>
        </p:nvGrpSpPr>
        <p:grpSpPr>
          <a:xfrm>
            <a:off x="6238875" y="3952875"/>
            <a:ext cx="5381700" cy="2286000"/>
            <a:chOff x="6238875" y="3952875"/>
            <a:chExt cx="5381700" cy="2286000"/>
          </a:xfrm>
        </p:grpSpPr>
        <p:sp>
          <p:nvSpPr>
            <p:cNvPr id="404" name="Google Shape;404;p34"/>
            <p:cNvSpPr/>
            <p:nvPr/>
          </p:nvSpPr>
          <p:spPr>
            <a:xfrm>
              <a:off x="6238875" y="3952875"/>
              <a:ext cx="5381700" cy="2286000"/>
            </a:xfrm>
            <a:prstGeom prst="roundRect">
              <a:avLst>
                <a:gd fmla="val 0" name="adj"/>
              </a:avLst>
            </a:prstGeom>
            <a:solidFill>
              <a:srgbClr val="FFFFFF"/>
            </a:soli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4"/>
            <p:cNvSpPr txBox="1"/>
            <p:nvPr/>
          </p:nvSpPr>
          <p:spPr>
            <a:xfrm>
              <a:off x="6429375" y="4225160"/>
              <a:ext cx="4287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050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b="0" sz="2800">
                <a:solidFill>
                  <a:srgbClr val="0050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06" name="Google Shape;406;p34"/>
            <p:cNvSpPr txBox="1"/>
            <p:nvPr/>
          </p:nvSpPr>
          <p:spPr>
            <a:xfrm>
              <a:off x="6953250" y="4143375"/>
              <a:ext cx="4476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효율성의 절대 우위</a:t>
              </a:r>
              <a:endParaRPr b="1" sz="16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직접 PyTorch로 구현한 결과, 모델 규모에 상관없이 훈련 VRAM과 소요 시간을 절반 수준으로 절감하여 LoRA의 구조적 우위를 확정적으로 입증했습니다.</a:t>
              </a:r>
              <a:endParaRPr b="0" sz="120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